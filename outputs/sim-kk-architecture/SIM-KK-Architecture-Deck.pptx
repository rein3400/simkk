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MKK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F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50"/>
          </a:solidFill>
          <a:ln w="7620">
            <a:solidFill>
              <a:srgbClr val="1F5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98948"/>
          </a:solidFill>
          <a:ln w="7620">
            <a:solidFill>
              <a:srgbClr val="B989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0"/>
            <a:ext cx="3840480" cy="6858000"/>
          </a:xfrm>
          <a:prstGeom prst="rect">
            <a:avLst/>
          </a:prstGeom>
          <a:solidFill>
            <a:srgbClr val="173F36"/>
          </a:solidFill>
          <a:ln w="7620">
            <a:solidFill>
              <a:srgbClr val="173F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301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2B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SIM-KK ARCHITECTURE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SIM-KK menyatukan kasir, klinik, gudang, dan laporan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85216" y="12710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DD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arsitektur dari DPPL; belum ada source code aplikasi di workspace.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11173968" y="31089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D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1792" y="193852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 Informasi Manajemen Klinik Kecantikan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2523744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5EF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Batas penting: deck ini menjelaskan desain target source-backed, bukan status aplikasi yang sudah berjalan.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37960" y="2267712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25146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5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SIM-KK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720840" y="288036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operational core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400800" y="1691640"/>
            <a:ext cx="1097280" cy="1124712"/>
          </a:xfrm>
          <a:prstGeom prst="line">
            <a:avLst/>
          </a:prstGeom>
          <a:noFill/>
          <a:ln w="14605">
            <a:solidFill>
              <a:srgbClr val="91B2A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559552" y="141732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B98948"/>
          </a:solidFill>
          <a:ln w="7620">
            <a:solidFill>
              <a:srgbClr val="B989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32704" y="148590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Kasir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482328" y="1691640"/>
            <a:ext cx="-1984248" cy="1124712"/>
          </a:xfrm>
          <a:prstGeom prst="line">
            <a:avLst/>
          </a:prstGeom>
          <a:noFill/>
          <a:ln w="14605">
            <a:solidFill>
              <a:srgbClr val="91B2A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8641080" y="141732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2E5C7A"/>
          </a:solidFill>
          <a:ln w="7620">
            <a:solidFill>
              <a:srgbClr val="2E5C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14232" y="148590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Terapis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400800" y="3977640"/>
            <a:ext cx="1097280" cy="-1161288"/>
          </a:xfrm>
          <a:prstGeom prst="line">
            <a:avLst/>
          </a:prstGeom>
          <a:noFill/>
          <a:ln w="14605">
            <a:solidFill>
              <a:srgbClr val="91B2A8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5559552" y="370332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9C4E3D"/>
          </a:solidFill>
          <a:ln w="7620">
            <a:solidFill>
              <a:srgbClr val="9C4E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32704" y="377190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Gudang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9482328" y="3977640"/>
            <a:ext cx="-1984248" cy="-1161288"/>
          </a:xfrm>
          <a:prstGeom prst="line">
            <a:avLst/>
          </a:prstGeom>
          <a:noFill/>
          <a:ln w="14605">
            <a:solidFill>
              <a:srgbClr val="91B2A8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641080" y="370332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2D7A68"/>
          </a:solidFill>
          <a:ln w="7620">
            <a:solidFill>
              <a:srgbClr val="2D7A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14232" y="377190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Manajer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58368" y="5074920"/>
            <a:ext cx="1600200" cy="566928"/>
          </a:xfrm>
          <a:prstGeom prst="rect">
            <a:avLst/>
          </a:prstGeom>
          <a:solidFill>
            <a:srgbClr val="295B4F"/>
          </a:solidFill>
          <a:ln w="7620">
            <a:solidFill>
              <a:srgbClr val="5378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5166360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749808" y="540410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D6E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transaksi + receipt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2596896" y="5074920"/>
            <a:ext cx="1600200" cy="566928"/>
          </a:xfrm>
          <a:prstGeom prst="rect">
            <a:avLst/>
          </a:prstGeom>
          <a:solidFill>
            <a:srgbClr val="295B4F"/>
          </a:solidFill>
          <a:ln w="7620">
            <a:solidFill>
              <a:srgbClr val="5378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88336" y="5166360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Rekam medis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2688336" y="540410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D6E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treatment + foto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4535424" y="5074920"/>
            <a:ext cx="1600200" cy="566928"/>
          </a:xfrm>
          <a:prstGeom prst="rect">
            <a:avLst/>
          </a:prstGeom>
          <a:solidFill>
            <a:srgbClr val="295B4F"/>
          </a:solidFill>
          <a:ln w="7620">
            <a:solidFill>
              <a:srgbClr val="53786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5166360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FIFO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4626864" y="540410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D6E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stok + HPP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6473952" y="5074920"/>
            <a:ext cx="1600200" cy="566928"/>
          </a:xfrm>
          <a:prstGeom prst="rect">
            <a:avLst/>
          </a:prstGeom>
          <a:solidFill>
            <a:srgbClr val="295B4F"/>
          </a:solidFill>
          <a:ln w="7620">
            <a:solidFill>
              <a:srgbClr val="53786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5392" y="5166360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6565392" y="540410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D6E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+ .xlsx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585216" y="651052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C8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ARCHITECTURE.md / CONTEXT.md / DPPL PDF evidence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11183112" y="65105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C8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1/8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01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5F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SIM-KK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Arsitektur target memisahkan UI, bisnis, data, dan media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2710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Laravel memegang business logic; Vue hanya presentation boundary.</a:t>
            </a:r>
            <a:endParaRPr lang="en-US" sz="1180" dirty="0"/>
          </a:p>
        </p:txBody>
      </p:sp>
      <p:sp>
        <p:nvSpPr>
          <p:cNvPr id="5" name="Text 3"/>
          <p:cNvSpPr/>
          <p:nvPr/>
        </p:nvSpPr>
        <p:spPr>
          <a:xfrm>
            <a:off x="11173968" y="31089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4754880" cy="566928"/>
          </a:xfrm>
          <a:prstGeom prst="rect">
            <a:avLst/>
          </a:prstGeom>
          <a:solidFill>
            <a:srgbClr val="1F5F50"/>
          </a:solidFill>
          <a:ln w="7620">
            <a:solidFill>
              <a:srgbClr val="1F5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9476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Vue.js 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94767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3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cepat, tablet rekam medis, report preview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 rot="5400000">
            <a:off x="2816352" y="2423160"/>
            <a:ext cx="256032" cy="164592"/>
          </a:xfrm>
          <a:prstGeom prst="chevron">
            <a:avLst/>
          </a:prstGeom>
          <a:solidFill>
            <a:srgbClr val="5C6470"/>
          </a:solidFill>
          <a:ln w="12700">
            <a:solidFill>
              <a:srgbClr val="5C64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651760"/>
            <a:ext cx="4754880" cy="566928"/>
          </a:xfrm>
          <a:prstGeom prst="rect">
            <a:avLst/>
          </a:prstGeom>
          <a:solidFill>
            <a:srgbClr val="2E5C7A"/>
          </a:solidFill>
          <a:ln w="7620">
            <a:solidFill>
              <a:srgbClr val="2E5C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7706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Laravel backend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7706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3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auth, role access, POS, commission, FIFO, reports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 rot="5400000">
            <a:off x="2816352" y="3246120"/>
            <a:ext cx="256032" cy="164592"/>
          </a:xfrm>
          <a:prstGeom prst="chevron">
            <a:avLst/>
          </a:prstGeom>
          <a:solidFill>
            <a:srgbClr val="5C6470"/>
          </a:solidFill>
          <a:ln w="12700">
            <a:solidFill>
              <a:srgbClr val="5C64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474720"/>
            <a:ext cx="4754880" cy="566928"/>
          </a:xfrm>
          <a:prstGeom prst="rect">
            <a:avLst/>
          </a:prstGeom>
          <a:solidFill>
            <a:srgbClr val="9C4E3D"/>
          </a:solidFill>
          <a:ln w="7620">
            <a:solidFill>
              <a:srgbClr val="9C4E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5935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DB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359359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3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users, pasien, transaksi, rekam medis, inventory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 rot="5400000">
            <a:off x="2816352" y="4069080"/>
            <a:ext cx="256032" cy="164592"/>
          </a:xfrm>
          <a:prstGeom prst="chevron">
            <a:avLst/>
          </a:prstGeom>
          <a:solidFill>
            <a:srgbClr val="5C6470"/>
          </a:solidFill>
          <a:ln w="12700">
            <a:solidFill>
              <a:srgbClr val="5C64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297680"/>
            <a:ext cx="4754880" cy="566928"/>
          </a:xfrm>
          <a:prstGeom prst="rect">
            <a:avLst/>
          </a:prstGeom>
          <a:solidFill>
            <a:srgbClr val="B98948"/>
          </a:solidFill>
          <a:ln w="7620">
            <a:solidFill>
              <a:srgbClr val="B989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4165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S3-compatible storage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441655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3F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before/after clinical photo objects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172200" y="1783080"/>
            <a:ext cx="4983480" cy="3520440"/>
          </a:xfrm>
          <a:prstGeom prst="rect">
            <a:avLst/>
          </a:prstGeom>
          <a:solidFill>
            <a:srgbClr val="EEF1EE"/>
          </a:solidFill>
          <a:ln w="7620">
            <a:solidFill>
              <a:srgbClr val="D6DD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011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5F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discipline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6446520" y="2331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boleh kaya interaksi, tapi kalkulasi komisi, mutasi FIFO, dan akses data tetap di backend.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3154680"/>
            <a:ext cx="42519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 metadata stays in database; binary photo objects stay in S3-compatible storage.</a:t>
            </a:r>
            <a:endParaRPr lang="en-US" sz="1260" dirty="0"/>
          </a:p>
          <a:p>
            <a:pPr marL="342900" indent="-342900">
              <a:buSzPct val="100000"/>
              <a:buChar char="•"/>
            </a:pPr>
            <a:r>
              <a:rPr lang="en-US" sz="12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use approved database history, not hand-edited export surfaces.</a:t>
            </a:r>
            <a:endParaRPr lang="en-US" sz="1260" dirty="0"/>
          </a:p>
          <a:p>
            <a:pPr marL="342900" indent="-342900">
              <a:buSzPct val="100000"/>
              <a:buChar char="•"/>
            </a:pPr>
            <a:r>
              <a:rPr lang="en-US" sz="12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and Excel generators are dependencies by purpose; packages not chosen yet.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585216" y="651052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777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ARCHITECTURE.md / CONTEXT.md / DPPL PDF evidence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11183112" y="65105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777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2/8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01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5F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SIM-KK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Alur operasional mengunci bukti saat pekerjaan selesai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2710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Lunas adalah titik penting untuk receipt, cash ledger, dan komisi.</a:t>
            </a:r>
            <a:endParaRPr lang="en-US" sz="1180" dirty="0"/>
          </a:p>
        </p:txBody>
      </p:sp>
      <p:sp>
        <p:nvSpPr>
          <p:cNvPr id="5" name="Text 3"/>
          <p:cNvSpPr/>
          <p:nvPr/>
        </p:nvSpPr>
        <p:spPr>
          <a:xfrm>
            <a:off x="11173968" y="31089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1874520" cy="1078992"/>
          </a:xfrm>
          <a:prstGeom prst="chevron">
            <a:avLst/>
          </a:prstGeom>
          <a:solidFill>
            <a:srgbClr val="1F5F50"/>
          </a:solidFill>
          <a:ln w="12700">
            <a:solidFill>
              <a:srgbClr val="1F5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44144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32104" y="277977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access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2898648" y="2148840"/>
            <a:ext cx="1874520" cy="1078992"/>
          </a:xfrm>
          <a:prstGeom prst="chevron">
            <a:avLst/>
          </a:prstGeom>
          <a:solidFill>
            <a:srgbClr val="2E5C7A"/>
          </a:solidFill>
          <a:ln w="12700">
            <a:solidFill>
              <a:srgbClr val="2E5C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44144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044952" y="277977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 + patient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5111496" y="2148840"/>
            <a:ext cx="1874520" cy="1078992"/>
          </a:xfrm>
          <a:prstGeom prst="chevron">
            <a:avLst/>
          </a:prstGeom>
          <a:solidFill>
            <a:srgbClr val="B98948"/>
          </a:solidFill>
          <a:ln w="12700">
            <a:solidFill>
              <a:srgbClr val="B989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6088" y="244144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Terapis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257800" y="277977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selected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7324344" y="2148840"/>
            <a:ext cx="1874520" cy="1078992"/>
          </a:xfrm>
          <a:prstGeom prst="chevron">
            <a:avLst/>
          </a:prstGeom>
          <a:solidFill>
            <a:srgbClr val="9C4E3D"/>
          </a:solidFill>
          <a:ln w="12700">
            <a:solidFill>
              <a:srgbClr val="9C4E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44144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470648" y="277977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commission locked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9537192" y="2148840"/>
            <a:ext cx="1874520" cy="1078992"/>
          </a:xfrm>
          <a:prstGeom prst="chevron">
            <a:avLst/>
          </a:prstGeom>
          <a:solidFill>
            <a:srgbClr val="2D7A68"/>
          </a:solidFill>
          <a:ln w="12700">
            <a:solidFill>
              <a:srgbClr val="2D7A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01784" y="244144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683496" y="277977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/ .xlsx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960120" y="4160520"/>
            <a:ext cx="10058400" cy="950976"/>
          </a:xfrm>
          <a:prstGeom prst="rect">
            <a:avLst/>
          </a:prstGeom>
          <a:solidFill>
            <a:srgbClr val="EEF1EE"/>
          </a:solidFill>
          <a:ln w="7620">
            <a:solidFill>
              <a:srgbClr val="D6DD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7008" y="437083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89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 rule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59152" y="427939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transaction status becomes Lunas, the backend records receipt, cash inflow, and permanent therapist commission value.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377440" y="47183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keeps payroll/report exports tied to approved transaction history.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5216" y="651052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777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ARCHITECTURE.md / CONTEXT.md / DPPL PDF evidence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11183112" y="65105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777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3/8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01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5F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SIM-KK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Empat domain harus berbagi data yang sama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2710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modules are separate work surfaces, not separate truths.</a:t>
            </a:r>
            <a:endParaRPr lang="en-US" sz="1180" dirty="0"/>
          </a:p>
        </p:txBody>
      </p:sp>
      <p:sp>
        <p:nvSpPr>
          <p:cNvPr id="5" name="Text 3"/>
          <p:cNvSpPr/>
          <p:nvPr/>
        </p:nvSpPr>
        <p:spPr>
          <a:xfrm>
            <a:off x="11173968" y="31089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285232" y="1956816"/>
            <a:ext cx="1627632" cy="2670048"/>
          </a:xfrm>
          <a:prstGeom prst="rect">
            <a:avLst/>
          </a:prstGeom>
          <a:solidFill>
            <a:srgbClr val="1F5F50"/>
          </a:solidFill>
          <a:ln w="7620">
            <a:solidFill>
              <a:srgbClr val="1F5F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85232" y="1764792"/>
            <a:ext cx="1627632" cy="384048"/>
          </a:xfrm>
          <a:prstGeom prst="ellipse">
            <a:avLst/>
          </a:prstGeom>
          <a:solidFill>
            <a:srgbClr val="2D7A68"/>
          </a:solidFill>
          <a:ln w="12700">
            <a:solidFill>
              <a:srgbClr val="2D7A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85232" y="4425696"/>
            <a:ext cx="1627632" cy="384048"/>
          </a:xfrm>
          <a:prstGeom prst="ellipse">
            <a:avLst/>
          </a:prstGeom>
          <a:solidFill>
            <a:srgbClr val="17483E"/>
          </a:solidFill>
          <a:ln w="12700">
            <a:solidFill>
              <a:srgbClr val="1748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68112" y="2560320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1847088"/>
            <a:ext cx="3246120" cy="1207008"/>
          </a:xfrm>
          <a:prstGeom prst="rect">
            <a:avLst/>
          </a:prstGeom>
          <a:solidFill>
            <a:srgbClr val="EEF1EE"/>
          </a:solidFill>
          <a:ln w="7620">
            <a:solidFill>
              <a:srgbClr val="D6DD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847088"/>
            <a:ext cx="64008" cy="1207008"/>
          </a:xfrm>
          <a:prstGeom prst="rect">
            <a:avLst/>
          </a:prstGeom>
          <a:solidFill>
            <a:srgbClr val="1F5F50"/>
          </a:solidFill>
          <a:ln w="7620">
            <a:solidFill>
              <a:srgbClr val="1F5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1965960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987552" y="225856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cart, payment status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receipt, cash ledger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therapist selected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4087368" y="2450592"/>
            <a:ext cx="1197864" cy="0"/>
          </a:xfrm>
          <a:prstGeom prst="line">
            <a:avLst/>
          </a:prstGeom>
          <a:noFill/>
          <a:ln w="13970">
            <a:solidFill>
              <a:srgbClr val="1F5F5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635240" y="1847088"/>
            <a:ext cx="3246120" cy="1207008"/>
          </a:xfrm>
          <a:prstGeom prst="rect">
            <a:avLst/>
          </a:prstGeom>
          <a:solidFill>
            <a:srgbClr val="EEF1EE"/>
          </a:solidFill>
          <a:ln w="7620">
            <a:solidFill>
              <a:srgbClr val="D6DD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5240" y="1847088"/>
            <a:ext cx="64008" cy="1207008"/>
          </a:xfrm>
          <a:prstGeom prst="rect">
            <a:avLst/>
          </a:prstGeom>
          <a:solidFill>
            <a:srgbClr val="2E5C7A"/>
          </a:solidFill>
          <a:ln w="7620">
            <a:solidFill>
              <a:srgbClr val="2E5C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81544" y="1965960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Rekam Medis</a:t>
            </a:r>
            <a:endParaRPr lang="en-US" sz="1170" dirty="0"/>
          </a:p>
        </p:txBody>
      </p:sp>
      <p:sp>
        <p:nvSpPr>
          <p:cNvPr id="18" name="Text 16"/>
          <p:cNvSpPr/>
          <p:nvPr/>
        </p:nvSpPr>
        <p:spPr>
          <a:xfrm>
            <a:off x="7781544" y="225856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complaints, actions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treatment timeline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 references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7635240" y="2450592"/>
            <a:ext cx="-722376" cy="0"/>
          </a:xfrm>
          <a:prstGeom prst="line">
            <a:avLst/>
          </a:prstGeom>
          <a:noFill/>
          <a:ln w="13970">
            <a:solidFill>
              <a:srgbClr val="2E5C7A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41248" y="4160520"/>
            <a:ext cx="3246120" cy="1207008"/>
          </a:xfrm>
          <a:prstGeom prst="rect">
            <a:avLst/>
          </a:prstGeom>
          <a:solidFill>
            <a:srgbClr val="EEF1EE"/>
          </a:solidFill>
          <a:ln w="7620">
            <a:solidFill>
              <a:srgbClr val="D6DD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4160520"/>
            <a:ext cx="64008" cy="1207008"/>
          </a:xfrm>
          <a:prstGeom prst="rect">
            <a:avLst/>
          </a:prstGeom>
          <a:solidFill>
            <a:srgbClr val="9C4E3D"/>
          </a:solidFill>
          <a:ln w="7620">
            <a:solidFill>
              <a:srgbClr val="9C4E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279392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Gudang FIFO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987552" y="45720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 purchase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HPP batch basis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mutation</a:t>
            </a:r>
            <a:endParaRPr lang="en-US" sz="890" dirty="0"/>
          </a:p>
        </p:txBody>
      </p:sp>
      <p:sp>
        <p:nvSpPr>
          <p:cNvPr id="24" name="Shape 22"/>
          <p:cNvSpPr/>
          <p:nvPr/>
        </p:nvSpPr>
        <p:spPr>
          <a:xfrm>
            <a:off x="4087368" y="4764024"/>
            <a:ext cx="1197864" cy="0"/>
          </a:xfrm>
          <a:prstGeom prst="line">
            <a:avLst/>
          </a:prstGeom>
          <a:noFill/>
          <a:ln w="13970">
            <a:solidFill>
              <a:srgbClr val="9C4E3D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7635240" y="4160520"/>
            <a:ext cx="3246120" cy="1207008"/>
          </a:xfrm>
          <a:prstGeom prst="rect">
            <a:avLst/>
          </a:prstGeom>
          <a:solidFill>
            <a:srgbClr val="EEF1EE"/>
          </a:solidFill>
          <a:ln w="7620">
            <a:solidFill>
              <a:srgbClr val="D6DD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35240" y="4160520"/>
            <a:ext cx="64008" cy="1207008"/>
          </a:xfrm>
          <a:prstGeom prst="rect">
            <a:avLst/>
          </a:prstGeom>
          <a:solidFill>
            <a:srgbClr val="B98948"/>
          </a:solidFill>
          <a:ln w="7620">
            <a:solidFill>
              <a:srgbClr val="B989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81544" y="4279392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Laporan</a:t>
            </a:r>
            <a:endParaRPr lang="en-US" sz="1170" dirty="0"/>
          </a:p>
        </p:txBody>
      </p:sp>
      <p:sp>
        <p:nvSpPr>
          <p:cNvPr id="28" name="Text 26"/>
          <p:cNvSpPr/>
          <p:nvPr/>
        </p:nvSpPr>
        <p:spPr>
          <a:xfrm>
            <a:off x="7781544" y="45720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PDF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.xlsx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commission .xlsx</a:t>
            </a:r>
            <a:endParaRPr lang="en-US" sz="890" dirty="0"/>
          </a:p>
        </p:txBody>
      </p:sp>
      <p:sp>
        <p:nvSpPr>
          <p:cNvPr id="29" name="Shape 27"/>
          <p:cNvSpPr/>
          <p:nvPr/>
        </p:nvSpPr>
        <p:spPr>
          <a:xfrm>
            <a:off x="7635240" y="4764024"/>
            <a:ext cx="-722376" cy="0"/>
          </a:xfrm>
          <a:prstGeom prst="line">
            <a:avLst/>
          </a:prstGeom>
          <a:noFill/>
          <a:ln w="13970">
            <a:solidFill>
              <a:srgbClr val="B98948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932688" y="583387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data prevents reconciliation drift between cashier, therapist, warehouse, and manager reporting.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585216" y="651052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777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ARCHITECTURE.md / CONTEXT.md / DPPL PDF evidence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1183112" y="65105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777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4/8</a:t>
            </a:r>
            <a:endParaRPr lang="en-US" sz="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01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5F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SIM-KK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model awal sudah menunjuk titik audit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2710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fields are limited; extra tables need implementation decisions.</a:t>
            </a:r>
            <a:endParaRPr lang="en-US" sz="1180" dirty="0"/>
          </a:p>
        </p:txBody>
      </p:sp>
      <p:sp>
        <p:nvSpPr>
          <p:cNvPr id="5" name="Text 3"/>
          <p:cNvSpPr/>
          <p:nvPr/>
        </p:nvSpPr>
        <p:spPr>
          <a:xfrm>
            <a:off x="11173968" y="31089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2057400" cy="1097280"/>
          </a:xfrm>
          <a:prstGeom prst="rect">
            <a:avLst/>
          </a:prstGeom>
          <a:solidFill>
            <a:srgbClr val="EEF1EE"/>
          </a:solidFill>
          <a:ln w="7620">
            <a:solidFill>
              <a:srgbClr val="D6DD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83080"/>
            <a:ext cx="64008" cy="1097280"/>
          </a:xfrm>
          <a:prstGeom prst="rect">
            <a:avLst/>
          </a:prstGeom>
          <a:solidFill>
            <a:srgbClr val="1F5F50"/>
          </a:solidFill>
          <a:ln w="7620">
            <a:solidFill>
              <a:srgbClr val="1F5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901952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1170" dirty="0"/>
          </a:p>
        </p:txBody>
      </p:sp>
      <p:sp>
        <p:nvSpPr>
          <p:cNvPr id="9" name="Text 7"/>
          <p:cNvSpPr/>
          <p:nvPr/>
        </p:nvSpPr>
        <p:spPr>
          <a:xfrm>
            <a:off x="877824" y="219456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username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 hash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nama_lengkap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role</a:t>
            </a:r>
            <a:endParaRPr lang="en-US" sz="89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2057400" cy="1097280"/>
          </a:xfrm>
          <a:prstGeom prst="rect">
            <a:avLst/>
          </a:prstGeom>
          <a:solidFill>
            <a:srgbClr val="EEF1EE"/>
          </a:solidFill>
          <a:ln w="7620">
            <a:solidFill>
              <a:srgbClr val="D6DD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749040"/>
            <a:ext cx="64008" cy="1097280"/>
          </a:xfrm>
          <a:prstGeom prst="rect">
            <a:avLst/>
          </a:prstGeom>
          <a:solidFill>
            <a:srgbClr val="2E5C7A"/>
          </a:solidFill>
          <a:ln w="7620">
            <a:solidFill>
              <a:srgbClr val="2E5C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867912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Pasien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877824" y="416052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nama, usia, alamat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nomor_telp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rekam_medis_id unique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4892040" y="2560320"/>
            <a:ext cx="2331720" cy="1298448"/>
          </a:xfrm>
          <a:prstGeom prst="rect">
            <a:avLst/>
          </a:prstGeom>
          <a:solidFill>
            <a:srgbClr val="FFF8EA"/>
          </a:solidFill>
          <a:ln w="7620">
            <a:solidFill>
              <a:srgbClr val="D6DD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2560320"/>
            <a:ext cx="64008" cy="1298448"/>
          </a:xfrm>
          <a:prstGeom prst="rect">
            <a:avLst/>
          </a:prstGeom>
          <a:solidFill>
            <a:srgbClr val="B98948"/>
          </a:solidFill>
          <a:ln w="7620">
            <a:solidFill>
              <a:srgbClr val="B989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38344" y="2679192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Transaksi Detail</a:t>
            </a:r>
            <a:endParaRPr lang="en-US" sz="1170" dirty="0"/>
          </a:p>
        </p:txBody>
      </p:sp>
      <p:sp>
        <p:nvSpPr>
          <p:cNvPr id="17" name="Text 15"/>
          <p:cNvSpPr/>
          <p:nvPr/>
        </p:nvSpPr>
        <p:spPr>
          <a:xfrm>
            <a:off x="5038344" y="29718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id_transaksi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id_produk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id_terapis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nilai_komisi snapshot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8915400" y="1691640"/>
            <a:ext cx="2212848" cy="1042416"/>
          </a:xfrm>
          <a:prstGeom prst="rect">
            <a:avLst/>
          </a:prstGeom>
          <a:solidFill>
            <a:srgbClr val="EEF1EE"/>
          </a:solidFill>
          <a:ln w="7620">
            <a:solidFill>
              <a:srgbClr val="D6DD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15400" y="1691640"/>
            <a:ext cx="64008" cy="1042416"/>
          </a:xfrm>
          <a:prstGeom prst="rect">
            <a:avLst/>
          </a:prstGeom>
          <a:solidFill>
            <a:srgbClr val="9C4E3D"/>
          </a:solidFill>
          <a:ln w="7620">
            <a:solidFill>
              <a:srgbClr val="9C4E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61704" y="181051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Produk / Layanan</a:t>
            </a:r>
            <a:endParaRPr lang="en-US" sz="1170" dirty="0"/>
          </a:p>
        </p:txBody>
      </p:sp>
      <p:sp>
        <p:nvSpPr>
          <p:cNvPr id="21" name="Text 19"/>
          <p:cNvSpPr/>
          <p:nvPr/>
        </p:nvSpPr>
        <p:spPr>
          <a:xfrm>
            <a:off x="9061704" y="210312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or product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basis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link if product</a:t>
            </a:r>
            <a:endParaRPr lang="en-US" sz="890" dirty="0"/>
          </a:p>
        </p:txBody>
      </p:sp>
      <p:sp>
        <p:nvSpPr>
          <p:cNvPr id="22" name="Shape 20"/>
          <p:cNvSpPr/>
          <p:nvPr/>
        </p:nvSpPr>
        <p:spPr>
          <a:xfrm>
            <a:off x="8915400" y="3822192"/>
            <a:ext cx="2212848" cy="1042416"/>
          </a:xfrm>
          <a:prstGeom prst="rect">
            <a:avLst/>
          </a:prstGeom>
          <a:solidFill>
            <a:srgbClr val="EEF1EE"/>
          </a:solidFill>
          <a:ln w="7620">
            <a:solidFill>
              <a:srgbClr val="D6DD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15400" y="3822192"/>
            <a:ext cx="64008" cy="1042416"/>
          </a:xfrm>
          <a:prstGeom prst="rect">
            <a:avLst/>
          </a:prstGeom>
          <a:solidFill>
            <a:srgbClr val="2D7A68"/>
          </a:solidFill>
          <a:ln w="7620">
            <a:solidFill>
              <a:srgbClr val="2D7A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61704" y="394106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Terapis</a:t>
            </a:r>
            <a:endParaRPr lang="en-US" sz="1170" dirty="0"/>
          </a:p>
        </p:txBody>
      </p:sp>
      <p:sp>
        <p:nvSpPr>
          <p:cNvPr id="25" name="Text 23"/>
          <p:cNvSpPr/>
          <p:nvPr/>
        </p:nvSpPr>
        <p:spPr>
          <a:xfrm>
            <a:off x="9061704" y="4233672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 user/role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commission owner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payroll export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3730752" y="4617720"/>
            <a:ext cx="2176272" cy="969264"/>
          </a:xfrm>
          <a:prstGeom prst="rect">
            <a:avLst/>
          </a:prstGeom>
          <a:solidFill>
            <a:srgbClr val="EEF1EE"/>
          </a:solidFill>
          <a:ln w="7620">
            <a:solidFill>
              <a:srgbClr val="D6DD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30752" y="4617720"/>
            <a:ext cx="64008" cy="969264"/>
          </a:xfrm>
          <a:prstGeom prst="rect">
            <a:avLst/>
          </a:prstGeom>
          <a:solidFill>
            <a:srgbClr val="2E5C7A"/>
          </a:solidFill>
          <a:ln w="7620">
            <a:solidFill>
              <a:srgbClr val="2E5C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77056" y="4736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Rekam Medis</a:t>
            </a:r>
            <a:endParaRPr lang="en-US" sz="1170" dirty="0"/>
          </a:p>
        </p:txBody>
      </p:sp>
      <p:sp>
        <p:nvSpPr>
          <p:cNvPr id="29" name="Text 27"/>
          <p:cNvSpPr/>
          <p:nvPr/>
        </p:nvSpPr>
        <p:spPr>
          <a:xfrm>
            <a:off x="3877056" y="5029200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complaints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 media refs</a:t>
            </a:r>
            <a:endParaRPr lang="en-US" sz="890" dirty="0"/>
          </a:p>
        </p:txBody>
      </p:sp>
      <p:sp>
        <p:nvSpPr>
          <p:cNvPr id="30" name="Shape 28"/>
          <p:cNvSpPr/>
          <p:nvPr/>
        </p:nvSpPr>
        <p:spPr>
          <a:xfrm>
            <a:off x="6355080" y="4617720"/>
            <a:ext cx="2176272" cy="969264"/>
          </a:xfrm>
          <a:prstGeom prst="rect">
            <a:avLst/>
          </a:prstGeom>
          <a:solidFill>
            <a:srgbClr val="EEF1EE"/>
          </a:solidFill>
          <a:ln w="7620">
            <a:solidFill>
              <a:srgbClr val="D6DD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5080" y="4617720"/>
            <a:ext cx="64008" cy="969264"/>
          </a:xfrm>
          <a:prstGeom prst="rect">
            <a:avLst/>
          </a:prstGeom>
          <a:solidFill>
            <a:srgbClr val="9C4E3D"/>
          </a:solidFill>
          <a:ln w="7620">
            <a:solidFill>
              <a:srgbClr val="9C4E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1384" y="4736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Batch</a:t>
            </a:r>
            <a:endParaRPr lang="en-US" sz="1170" dirty="0"/>
          </a:p>
        </p:txBody>
      </p:sp>
      <p:sp>
        <p:nvSpPr>
          <p:cNvPr id="33" name="Text 31"/>
          <p:cNvSpPr/>
          <p:nvPr/>
        </p:nvSpPr>
        <p:spPr>
          <a:xfrm>
            <a:off x="6501384" y="5029200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 purchase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HPP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FIFO order</a:t>
            </a:r>
            <a:endParaRPr lang="en-US" sz="890" dirty="0"/>
          </a:p>
        </p:txBody>
      </p:sp>
      <p:sp>
        <p:nvSpPr>
          <p:cNvPr id="34" name="Shape 32"/>
          <p:cNvSpPr/>
          <p:nvPr/>
        </p:nvSpPr>
        <p:spPr>
          <a:xfrm>
            <a:off x="2788920" y="2331720"/>
            <a:ext cx="2103120" cy="576072"/>
          </a:xfrm>
          <a:prstGeom prst="line">
            <a:avLst/>
          </a:prstGeom>
          <a:noFill/>
          <a:ln w="12700">
            <a:solidFill>
              <a:srgbClr val="1F5F50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2788920" y="4279392"/>
            <a:ext cx="941832" cy="731520"/>
          </a:xfrm>
          <a:prstGeom prst="line">
            <a:avLst/>
          </a:prstGeom>
          <a:noFill/>
          <a:ln w="12700">
            <a:solidFill>
              <a:srgbClr val="2E5C7A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7223760" y="3035808"/>
            <a:ext cx="1691640" cy="-822960"/>
          </a:xfrm>
          <a:prstGeom prst="line">
            <a:avLst/>
          </a:prstGeom>
          <a:noFill/>
          <a:ln w="12700">
            <a:solidFill>
              <a:srgbClr val="9C4E3D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7223760" y="3200400"/>
            <a:ext cx="1691640" cy="1143000"/>
          </a:xfrm>
          <a:prstGeom prst="line">
            <a:avLst/>
          </a:prstGeom>
          <a:noFill/>
          <a:ln w="12700">
            <a:solidFill>
              <a:srgbClr val="2D7A68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6035040" y="3858768"/>
            <a:ext cx="-548640" cy="758952"/>
          </a:xfrm>
          <a:prstGeom prst="line">
            <a:avLst/>
          </a:prstGeom>
          <a:noFill/>
          <a:ln w="12700">
            <a:solidFill>
              <a:srgbClr val="B98948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6492240" y="3858768"/>
            <a:ext cx="411480" cy="758952"/>
          </a:xfrm>
          <a:prstGeom prst="line">
            <a:avLst/>
          </a:prstGeom>
          <a:noFill/>
          <a:ln w="12700">
            <a:solidFill>
              <a:srgbClr val="B98948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4480560" y="1645920"/>
            <a:ext cx="2880360" cy="402336"/>
          </a:xfrm>
          <a:prstGeom prst="rect">
            <a:avLst/>
          </a:prstGeom>
          <a:solidFill>
            <a:srgbClr val="1F5F50"/>
          </a:solidFill>
          <a:ln w="7620">
            <a:solidFill>
              <a:srgbClr val="1F5F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5152" y="1764792"/>
            <a:ext cx="2578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focus: immutable commission + FIFO batch evidence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585216" y="651052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777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ARCHITECTURE.md / CONTEXT.md / DPPL PDF evidence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11183112" y="65105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777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5/8</a:t>
            </a:r>
            <a:endParaRPr lang="en-US" sz="7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F2A"/>
          </a:solidFill>
          <a:ln w="7620">
            <a:solidFill>
              <a:srgbClr val="142F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72768"/>
          </a:xfrm>
          <a:prstGeom prst="rect">
            <a:avLst/>
          </a:prstGeom>
          <a:solidFill>
            <a:srgbClr val="1F5F50"/>
          </a:solidFill>
          <a:ln w="7620">
            <a:solidFill>
              <a:srgbClr val="1F5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301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2B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SIM-KK 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65836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Risiko teknis berada di privacy, audit, dan FIFO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12710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DD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Unknowns are manageable only if they become explicit engineering decisions.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11173968" y="31089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D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" y="206654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photo privacy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3063240" y="2084832"/>
            <a:ext cx="4754880" cy="201168"/>
          </a:xfrm>
          <a:prstGeom prst="rect">
            <a:avLst/>
          </a:prstGeom>
          <a:solidFill>
            <a:srgbClr val="254B43"/>
          </a:solidFill>
          <a:ln w="7620">
            <a:solidFill>
              <a:srgbClr val="254B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2084832"/>
            <a:ext cx="4206240" cy="201168"/>
          </a:xfrm>
          <a:prstGeom prst="rect">
            <a:avLst/>
          </a:prstGeom>
          <a:solidFill>
            <a:srgbClr val="9C4E3D"/>
          </a:solidFill>
          <a:ln w="7620">
            <a:solidFill>
              <a:srgbClr val="9C4E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65008" y="20574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C7D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access, retention, audit trail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841248" y="275234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Commission immutability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3063240" y="2770632"/>
            <a:ext cx="4754880" cy="201168"/>
          </a:xfrm>
          <a:prstGeom prst="rect">
            <a:avLst/>
          </a:prstGeom>
          <a:solidFill>
            <a:srgbClr val="254B43"/>
          </a:solidFill>
          <a:ln w="7620">
            <a:solidFill>
              <a:srgbClr val="254B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2770632"/>
            <a:ext cx="3364992" cy="201168"/>
          </a:xfrm>
          <a:prstGeom prst="rect">
            <a:avLst/>
          </a:prstGeom>
          <a:solidFill>
            <a:srgbClr val="B98948"/>
          </a:solidFill>
          <a:ln w="7620">
            <a:solidFill>
              <a:srgbClr val="B989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5008" y="27432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C7D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transaction history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841248" y="343814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FIFO stock batches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3063240" y="3456432"/>
            <a:ext cx="4754880" cy="201168"/>
          </a:xfrm>
          <a:prstGeom prst="rect">
            <a:avLst/>
          </a:prstGeom>
          <a:solidFill>
            <a:srgbClr val="254B43"/>
          </a:solidFill>
          <a:ln w="7620">
            <a:solidFill>
              <a:srgbClr val="254B4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63240" y="3456432"/>
            <a:ext cx="3364992" cy="201168"/>
          </a:xfrm>
          <a:prstGeom prst="rect">
            <a:avLst/>
          </a:prstGeom>
          <a:solidFill>
            <a:srgbClr val="2E5C7A"/>
          </a:solidFill>
          <a:ln w="7620">
            <a:solidFill>
              <a:srgbClr val="2E5C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65008" y="34290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C7D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batch, expiry, HPP mutation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841248" y="412394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Auth/session model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3063240" y="4142232"/>
            <a:ext cx="4754880" cy="201168"/>
          </a:xfrm>
          <a:prstGeom prst="rect">
            <a:avLst/>
          </a:prstGeom>
          <a:solidFill>
            <a:srgbClr val="254B43"/>
          </a:solidFill>
          <a:ln w="7620">
            <a:solidFill>
              <a:srgbClr val="254B4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63240" y="4142232"/>
            <a:ext cx="2523744" cy="201168"/>
          </a:xfrm>
          <a:prstGeom prst="rect">
            <a:avLst/>
          </a:prstGeom>
          <a:solidFill>
            <a:srgbClr val="2D7A68"/>
          </a:solidFill>
          <a:ln w="7620">
            <a:solidFill>
              <a:srgbClr val="2D7A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65008" y="41148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C7D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granularity + middleware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841248" y="480974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Deployment/backups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3063240" y="4828032"/>
            <a:ext cx="4754880" cy="201168"/>
          </a:xfrm>
          <a:prstGeom prst="rect">
            <a:avLst/>
          </a:prstGeom>
          <a:solidFill>
            <a:srgbClr val="254B43"/>
          </a:solidFill>
          <a:ln w="7620">
            <a:solidFill>
              <a:srgbClr val="254B4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63240" y="4828032"/>
            <a:ext cx="2523744" cy="201168"/>
          </a:xfrm>
          <a:prstGeom prst="rect">
            <a:avLst/>
          </a:prstGeom>
          <a:solidFill>
            <a:srgbClr val="D2B06D"/>
          </a:solidFill>
          <a:ln w="7620">
            <a:solidFill>
              <a:srgbClr val="D2B0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65008" y="48006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C7D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DB/S3 restore policy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804672" y="5715000"/>
            <a:ext cx="9966960" cy="438912"/>
          </a:xfrm>
          <a:prstGeom prst="rect">
            <a:avLst/>
          </a:prstGeom>
          <a:solidFill>
            <a:srgbClr val="1C433B"/>
          </a:solidFill>
          <a:ln w="7620">
            <a:solidFill>
              <a:srgbClr val="345F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843016"/>
            <a:ext cx="9509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hide these as implementation details: they change schema, permissions, exports, and rollback planning.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585216" y="651052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C8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ARCHITECTURE.md / CONTEXT.md / DPPL PDF evidence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1183112" y="65105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C8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6/8</a:t>
            </a:r>
            <a:endParaRPr lang="en-US" sz="7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01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5F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SIM-KK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implementasi: foundation before polish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2710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audit path first, then make the prototype operationally rich.</a:t>
            </a:r>
            <a:endParaRPr lang="en-US" sz="1180" dirty="0"/>
          </a:p>
        </p:txBody>
      </p:sp>
      <p:sp>
        <p:nvSpPr>
          <p:cNvPr id="5" name="Text 3"/>
          <p:cNvSpPr/>
          <p:nvPr/>
        </p:nvSpPr>
        <p:spPr>
          <a:xfrm>
            <a:off x="11173968" y="31089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49808" y="2121408"/>
            <a:ext cx="603504" cy="603504"/>
          </a:xfrm>
          <a:prstGeom prst="ellipse">
            <a:avLst/>
          </a:prstGeom>
          <a:solidFill>
            <a:srgbClr val="1F5F50"/>
          </a:solidFill>
          <a:ln w="12700">
            <a:solidFill>
              <a:srgbClr val="1F5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0428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1353312" y="2423160"/>
            <a:ext cx="1463040" cy="0"/>
          </a:xfrm>
          <a:prstGeom prst="line">
            <a:avLst/>
          </a:prstGeom>
          <a:noFill/>
          <a:ln w="20320">
            <a:solidFill>
              <a:srgbClr val="D6DDD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704088" y="299008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+ Auth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548640" y="34015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roles, DB choice, migrations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2980944" y="2121408"/>
            <a:ext cx="603504" cy="603504"/>
          </a:xfrm>
          <a:prstGeom prst="ellipse">
            <a:avLst/>
          </a:prstGeom>
          <a:solidFill>
            <a:srgbClr val="2E5C7A"/>
          </a:solidFill>
          <a:ln w="12700">
            <a:solidFill>
              <a:srgbClr val="2E5C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9816" y="230428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3584448" y="2423160"/>
            <a:ext cx="1463040" cy="0"/>
          </a:xfrm>
          <a:prstGeom prst="line">
            <a:avLst/>
          </a:prstGeom>
          <a:noFill/>
          <a:ln w="20320">
            <a:solidFill>
              <a:srgbClr val="D6DDD8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2935224" y="299008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Core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2779776" y="34015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cart, therapist, Lunas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212080" y="2121408"/>
            <a:ext cx="603504" cy="603504"/>
          </a:xfrm>
          <a:prstGeom prst="ellipse">
            <a:avLst/>
          </a:prstGeom>
          <a:solidFill>
            <a:srgbClr val="B98948"/>
          </a:solidFill>
          <a:ln w="12700">
            <a:solidFill>
              <a:srgbClr val="B989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0952" y="230428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5815584" y="2423160"/>
            <a:ext cx="1463040" cy="0"/>
          </a:xfrm>
          <a:prstGeom prst="line">
            <a:avLst/>
          </a:prstGeom>
          <a:noFill/>
          <a:ln w="20320">
            <a:solidFill>
              <a:srgbClr val="D6DDD8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5166360" y="299008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Records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5010912" y="34015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timeline, S3 photo refs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7443216" y="2121408"/>
            <a:ext cx="603504" cy="603504"/>
          </a:xfrm>
          <a:prstGeom prst="ellipse">
            <a:avLst/>
          </a:prstGeom>
          <a:solidFill>
            <a:srgbClr val="9C4E3D"/>
          </a:solidFill>
          <a:ln w="12700">
            <a:solidFill>
              <a:srgbClr val="9C4E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2088" y="230428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8046720" y="2423160"/>
            <a:ext cx="1463040" cy="0"/>
          </a:xfrm>
          <a:prstGeom prst="line">
            <a:avLst/>
          </a:prstGeom>
          <a:noFill/>
          <a:ln w="20320">
            <a:solidFill>
              <a:srgbClr val="D6DDD8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7397496" y="299008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FIFO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7242048" y="34015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 batches, HPP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9674352" y="2121408"/>
            <a:ext cx="603504" cy="603504"/>
          </a:xfrm>
          <a:prstGeom prst="ellipse">
            <a:avLst/>
          </a:prstGeom>
          <a:solidFill>
            <a:srgbClr val="2D7A68"/>
          </a:solidFill>
          <a:ln w="12700">
            <a:solidFill>
              <a:srgbClr val="2D7A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93224" y="230428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9628632" y="299008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9473184" y="34015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C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finance, Excel stock/commission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777240" y="4800600"/>
            <a:ext cx="10588752" cy="841248"/>
          </a:xfrm>
          <a:prstGeom prst="rect">
            <a:avLst/>
          </a:prstGeom>
          <a:solidFill>
            <a:srgbClr val="EEF1EE"/>
          </a:solidFill>
          <a:ln w="7620">
            <a:solidFill>
              <a:srgbClr val="D6DD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" y="4983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5F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per phase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2560320" y="489204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phase should produce code-level evidence: tests, migrations, UI smoke checks, and export fixtures before docs claim it is live.</a:t>
            </a:r>
            <a:endParaRPr lang="en-US" sz="1340" dirty="0"/>
          </a:p>
        </p:txBody>
      </p:sp>
      <p:sp>
        <p:nvSpPr>
          <p:cNvPr id="33" name="Text 31"/>
          <p:cNvSpPr/>
          <p:nvPr/>
        </p:nvSpPr>
        <p:spPr>
          <a:xfrm>
            <a:off x="585216" y="651052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777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ARCHITECTURE.md / CONTEXT.md / DPPL PDF evidence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11183112" y="65105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777D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7/8</a:t>
            </a:r>
            <a:endParaRPr lang="en-US" sz="7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5F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50"/>
          </a:solidFill>
          <a:ln w="7620">
            <a:solidFill>
              <a:srgbClr val="1F5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0"/>
            <a:ext cx="3886200" cy="6858000"/>
          </a:xfrm>
          <a:prstGeom prst="rect">
            <a:avLst/>
          </a:prstGeom>
          <a:solidFill>
            <a:srgbClr val="173F36"/>
          </a:solidFill>
          <a:ln w="7620">
            <a:solidFill>
              <a:srgbClr val="173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301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2B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SIM-KK 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65836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Arsitektur siap dibangun, bukan diklaim sudah live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12710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DD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workspace is a source-backed design workspace with no app runtime yet.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11173968" y="31089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D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1993392"/>
            <a:ext cx="914400" cy="914400"/>
          </a:xfrm>
          <a:prstGeom prst="ellipse">
            <a:avLst/>
          </a:prstGeom>
          <a:solidFill>
            <a:srgbClr val="B98948"/>
          </a:solidFill>
          <a:ln w="12700">
            <a:solidFill>
              <a:srgbClr val="B989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8136" y="224942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65960" y="201168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boundary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93392" y="254203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E5EF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architecture is credible as a target design because it is traced to the DPPL, CONTEXT.md, and ARCHITECTURE.md. It is not proof of deployed software.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868680" y="4251960"/>
            <a:ext cx="2834640" cy="1069848"/>
          </a:xfrm>
          <a:prstGeom prst="rect">
            <a:avLst/>
          </a:prstGeom>
          <a:solidFill>
            <a:srgbClr val="245A4E"/>
          </a:solidFill>
          <a:ln w="7620">
            <a:solidFill>
              <a:srgbClr val="5378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442569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989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473659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 and domains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stack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business rules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4279392" y="4251960"/>
            <a:ext cx="2834640" cy="1069848"/>
          </a:xfrm>
          <a:prstGeom prst="rect">
            <a:avLst/>
          </a:prstGeom>
          <a:solidFill>
            <a:srgbClr val="245A4E"/>
          </a:solidFill>
          <a:ln w="7620">
            <a:solidFill>
              <a:srgbClr val="5378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3984" y="442569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D8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yet proven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62272" y="473659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code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config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tests/deployment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7699248" y="4251960"/>
            <a:ext cx="2834640" cy="1069848"/>
          </a:xfrm>
          <a:prstGeom prst="rect">
            <a:avLst/>
          </a:prstGeom>
          <a:solidFill>
            <a:srgbClr val="245A4E"/>
          </a:solidFill>
          <a:ln w="7620">
            <a:solidFill>
              <a:srgbClr val="5378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442569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2B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decisions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82128" y="473659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 engine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policy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libraries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585216" y="651052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C8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ARCHITECTURE.md / CONTEXT.md / DPPL PDF evidence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1183112" y="65105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C8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8/8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SIM-KK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SIM-KK Architecture Deck</dc:title>
  <dc:subject>Architecture deck generated from ARCHITECTURE.md</dc:subject>
  <dc:creator>Codex</dc:creator>
  <cp:lastModifiedBy>Codex</cp:lastModifiedBy>
  <cp:revision>1</cp:revision>
  <dcterms:created xsi:type="dcterms:W3CDTF">2026-05-25T07:15:09Z</dcterms:created>
  <dcterms:modified xsi:type="dcterms:W3CDTF">2026-05-25T07:15:09Z</dcterms:modified>
</cp:coreProperties>
</file>